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D6A5F"/>
                </a:solidFill>
              </a:rPr>
              <a:t>HAQ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HAQ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D2"/>
                </a:solidFill>
              </a:rPr>
              <a:t>हक़ · ಹಕ್ಕು · "what is rightfully yours"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An app that helps workers get the money they earned. They tell their story in their own language, and HAQ turns it into a clear letter for the employer.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55080" y="411480"/>
            <a:ext cx="2286000" cy="4343400"/>
          </a:xfrm>
          <a:prstGeom prst="roundRect">
            <a:avLst>
              <a:gd name="adj" fmla="val 8000"/>
            </a:avLst>
          </a:prstGeom>
          <a:solidFill>
            <a:srgbClr val="163826"/>
          </a:solidFill>
          <a:ln w="12700">
            <a:solidFill>
              <a:srgbClr val="163826"/>
            </a:solidFill>
            <a:prstDash val="solid"/>
          </a:ln>
        </p:spPr>
      </p:sp>
      <p:pic>
        <p:nvPicPr>
          <p:cNvPr id="6" name="Image 0" descr="/tmp/claude-0/-home-claude/9e515346-3e64-5cb7-a745-b1bd6d57bc5e/scratchpad/ppt/02-worker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502920"/>
            <a:ext cx="210312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workers lose their pay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0"/>
                </a:solidFill>
              </a:rPr>
              <a:t>Proof is all over the place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A5F"/>
                </a:solidFill>
              </a:rPr>
              <a:t>Chats, payment screenshots and voice notes are spread across the phone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0"/>
                </a:solidFill>
              </a:rPr>
              <a:t>Complaining is hard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286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A5F"/>
                </a:solidFill>
              </a:rPr>
              <a:t>Forms are long and full of difficult words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175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0"/>
                </a:solidFill>
              </a:rPr>
              <a:t>Language is a problem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154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A5F"/>
                </a:solidFill>
              </a:rPr>
              <a:t>Most apps are only in English, but workers speak many languages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749040"/>
            <a:ext cx="548640" cy="54864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862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703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20"/>
                </a:solidFill>
              </a:rPr>
              <a:t>No clear message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4023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A5F"/>
                </a:solidFill>
              </a:rPr>
              <a:t>The employer gets angry phone calls, not a clear claim, so nothing gets fixed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577840" y="1143000"/>
            <a:ext cx="3108960" cy="3337560"/>
          </a:xfrm>
          <a:prstGeom prst="roundRect">
            <a:avLst>
              <a:gd name="adj" fmla="val 4412"/>
            </a:avLst>
          </a:prstGeom>
          <a:solidFill>
            <a:srgbClr val="F7F1E3"/>
          </a:solidFill>
          <a:ln w="12700">
            <a:solidFill>
              <a:srgbClr val="F7F1E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806440" y="1325880"/>
            <a:ext cx="2697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4A30"/>
                </a:solidFill>
              </a:rPr>
              <a:t>Meet Lakshmi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A20"/>
                </a:solidFill>
              </a:rPr>
              <a:t>She worked as a cook for two months. She was promised ₹9,000 a month but got only ₹12,000 in total. Then the family stopped picking up her calls.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D2A20"/>
                </a:solidFill>
              </a:rPr>
              <a:t>She has proof on her phone, but she does not know how to make a proper complaint.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HAQ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5"/>
                </a:solidFill>
              </a:rPr>
              <a:t>WORKER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531620"/>
            <a:ext cx="320040" cy="320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81328" y="1691640"/>
            <a:ext cx="640080" cy="0"/>
          </a:xfrm>
          <a:prstGeom prst="line">
            <a:avLst/>
          </a:prstGeom>
          <a:noFill/>
          <a:ln w="19050">
            <a:solidFill>
              <a:srgbClr val="B9D3BD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A20"/>
                </a:solidFill>
              </a:rPr>
              <a:t>Talk or type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A5F"/>
                </a:solidFill>
              </a:rPr>
              <a:t>In your own 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76272" y="1371600"/>
            <a:ext cx="640080" cy="64008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292" y="153162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80360" y="1691640"/>
            <a:ext cx="640080" cy="0"/>
          </a:xfrm>
          <a:prstGeom prst="line">
            <a:avLst/>
          </a:prstGeom>
          <a:noFill/>
          <a:ln w="19050">
            <a:solidFill>
              <a:srgbClr val="B9D3BD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1856232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A20"/>
                </a:solidFill>
              </a:rPr>
              <a:t>Add proof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856232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A5F"/>
                </a:solidFill>
              </a:rPr>
              <a:t>Photos, PDFs, voice notes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575304" y="1371600"/>
            <a:ext cx="640080" cy="64008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324" y="1531620"/>
            <a:ext cx="320040" cy="320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79392" y="1691640"/>
            <a:ext cx="640080" cy="0"/>
          </a:xfrm>
          <a:prstGeom prst="line">
            <a:avLst/>
          </a:prstGeom>
          <a:noFill/>
          <a:ln w="19050">
            <a:solidFill>
              <a:srgbClr val="B9D3BD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3255264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A20"/>
                </a:solidFill>
              </a:rPr>
              <a:t>A few questions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255264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A5F"/>
                </a:solidFill>
              </a:rPr>
              <a:t>Only the important ones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974336" y="1371600"/>
            <a:ext cx="640080" cy="64008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356" y="1531620"/>
            <a:ext cx="320040" cy="3200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678424" y="1691640"/>
            <a:ext cx="640080" cy="0"/>
          </a:xfrm>
          <a:prstGeom prst="line">
            <a:avLst/>
          </a:prstGeom>
          <a:noFill/>
          <a:ln w="19050">
            <a:solidFill>
              <a:srgbClr val="B9D3BD"/>
            </a:solidFill>
            <a:prstDash val="solid"/>
            <a:tailEnd type="triangle"/>
          </a:ln>
        </p:spPr>
      </p:sp>
      <p:sp>
        <p:nvSpPr>
          <p:cNvPr id="22" name="Text 16"/>
          <p:cNvSpPr txBox="1"/>
          <p:nvPr/>
        </p:nvSpPr>
        <p:spPr>
          <a:xfrm>
            <a:off x="4654296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A20"/>
                </a:solidFill>
              </a:rPr>
              <a:t>HAQ checks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654296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A5F"/>
                </a:solidFill>
              </a:rPr>
              <a:t>Spots things that don't match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373368" y="1371600"/>
            <a:ext cx="640080" cy="64008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388" y="1531620"/>
            <a:ext cx="320040" cy="32004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077456" y="1691640"/>
            <a:ext cx="640080" cy="0"/>
          </a:xfrm>
          <a:prstGeom prst="line">
            <a:avLst/>
          </a:prstGeom>
          <a:noFill/>
          <a:ln w="19050">
            <a:solidFill>
              <a:srgbClr val="B9D3BD"/>
            </a:solidFill>
            <a:prstDash val="solid"/>
            <a:tailEnd type="triangle"/>
          </a:ln>
        </p:spPr>
      </p:sp>
      <p:sp>
        <p:nvSpPr>
          <p:cNvPr id="27" name="Text 20"/>
          <p:cNvSpPr txBox="1"/>
          <p:nvPr/>
        </p:nvSpPr>
        <p:spPr>
          <a:xfrm>
            <a:off x="6053328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A20"/>
                </a:solidFill>
              </a:rPr>
              <a:t>Letter is ready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053328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A5F"/>
                </a:solidFill>
              </a:rPr>
              <a:t>You can change any word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772400" y="1371600"/>
            <a:ext cx="640080" cy="640080"/>
          </a:xfrm>
          <a:prstGeom prst="ellipse">
            <a:avLst/>
          </a:prstGeom>
          <a:solidFill>
            <a:srgbClr val="E2A43B"/>
          </a:solidFill>
          <a:ln w="12700">
            <a:solidFill>
              <a:srgbClr val="E2A43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2420" y="15316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45236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A20"/>
                </a:solidFill>
              </a:rPr>
              <a:t>You send it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7452360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A5F"/>
                </a:solidFill>
              </a:rPr>
              <a:t>You choose what to share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F7F1E3"/>
          </a:solidFill>
          <a:ln w="12700">
            <a:solidFill>
              <a:srgbClr val="F7F1E3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858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B45"/>
                </a:solidFill>
              </a:rPr>
              <a:t>EMPLOYER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85800" y="3611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CDB0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58952" y="3611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A20"/>
                </a:solidFill>
              </a:rPr>
              <a:t>Sees only the claims sent to them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2286000" y="3611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CDB0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2359152" y="3611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A20"/>
                </a:solidFill>
              </a:rPr>
              <a:t>Can reply or ask questions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3886200" y="3611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CDB0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3959352" y="3611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A20"/>
                </a:solidFill>
              </a:rPr>
              <a:t>Can offer money to settle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5486400" y="3611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CDB0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5559552" y="3611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A20"/>
                </a:solidFill>
              </a:rPr>
              <a:t>Says when they have paid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7086600" y="36118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7159752" y="3611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Worker says "Yes, I got it" → Done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HAQ is made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94560" cy="2468880"/>
          </a:xfrm>
          <a:prstGeom prst="roundRect">
            <a:avLst>
              <a:gd name="adj" fmla="val 4167"/>
            </a:avLst>
          </a:prstGeom>
          <a:solidFill>
            <a:srgbClr val="F7F1E3"/>
          </a:solidFill>
          <a:ln w="12700">
            <a:solidFill>
              <a:srgbClr val="F7F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1920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A30"/>
                </a:solidFill>
              </a:rPr>
              <a:t>The app (on any phone)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D2A20"/>
                </a:solidFill>
              </a:rPr>
              <a:t>Opens in a phone browser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D2A20"/>
                </a:solidFill>
              </a:rPr>
              <a:t>One side for workers, one for employers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D2A20"/>
                </a:solidFill>
              </a:rPr>
              <a:t>13 Indian languages + any other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D2A20"/>
                </a:solidFill>
              </a:rPr>
              <a:t>Talk or type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18872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1F4A30"/>
          </a:solidFill>
          <a:ln w="12700">
            <a:solidFill>
              <a:srgbClr val="1F4A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337560" y="12801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The HAQ brain (server)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Keeps each person's data private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Keeps proof files safe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Reads text from files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Does the money maths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Builds the letter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Checks the AI's 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1887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7F1E3"/>
          </a:solidFill>
          <a:ln w="12700">
            <a:solidFill>
              <a:srgbClr val="F7F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A30"/>
                </a:solidFill>
              </a:rPr>
              <a:t>Safe storage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D2A20"/>
                </a:solidFill>
              </a:rPr>
              <a:t>Saves claims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D2A20"/>
                </a:solidFill>
              </a:rPr>
              <a:t>Saves files privately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5603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BEFD2"/>
          </a:solidFill>
          <a:ln w="12700">
            <a:solidFill>
              <a:srgbClr val="FBEF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8A5A00"/>
                </a:solidFill>
              </a:rPr>
              <a:t>IBM Granite (AI)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D2A20"/>
                </a:solidFill>
              </a:rPr>
              <a:t>Helps write the letter</a:t>
            </a:r>
            <a:endParaRPr lang="en-US" sz="14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D2A20"/>
                </a:solidFill>
              </a:rPr>
              <a:t>Can work without internet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2423160"/>
            <a:ext cx="457200" cy="0"/>
          </a:xfrm>
          <a:prstGeom prst="line">
            <a:avLst/>
          </a:prstGeom>
          <a:noFill/>
          <a:ln w="25400">
            <a:solidFill>
              <a:srgbClr val="2F6B45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1737360"/>
            <a:ext cx="457200" cy="0"/>
          </a:xfrm>
          <a:prstGeom prst="line">
            <a:avLst/>
          </a:prstGeom>
          <a:noFill/>
          <a:ln w="25400">
            <a:solidFill>
              <a:srgbClr val="2F6B45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89320" y="3108960"/>
            <a:ext cx="457200" cy="0"/>
          </a:xfrm>
          <a:prstGeom prst="line">
            <a:avLst/>
          </a:prstGeom>
          <a:noFill/>
          <a:ln w="25400">
            <a:solidFill>
              <a:srgbClr val="2F6B45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651760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DCEBDC"/>
          </a:solidFill>
          <a:ln w="12700">
            <a:solidFill>
              <a:srgbClr val="DCEB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59352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A30"/>
                </a:solidFill>
              </a:rPr>
              <a:t>The AI only helps write the story part. </a:t>
            </a:r>
            <a:pPr indent="0" marL="0">
              <a:buNone/>
            </a:pPr>
            <a:r>
              <a:rPr lang="en-US" sz="1200" dirty="0">
                <a:solidFill>
                  <a:srgbClr val="1D2A20"/>
                </a:solidFill>
              </a:rPr>
              <a:t>It is not allowed to make up money or dates. If it does, HAQ ignores it. All money is counted by the computer, not guessed.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looks like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0624" y="100584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E8E2D2"/>
          </a:solidFill>
          <a:ln w="12700">
            <a:solidFill>
              <a:srgbClr val="E8E2D2"/>
            </a:solidFill>
            <a:prstDash val="solid"/>
          </a:ln>
        </p:spPr>
      </p:sp>
      <p:pic>
        <p:nvPicPr>
          <p:cNvPr id="4" name="Image 0" descr="/tmp/claude-0/-home-claude/9e515346-3e64-5cb7-a745-b1bd6d57bc5e/scratchpad/ppt/02-worker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1463040" cy="2852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3995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A20"/>
                </a:solidFill>
              </a:rPr>
              <a:t>Worker home: one big button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093976" y="100584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E8E2D2"/>
          </a:solidFill>
          <a:ln w="12700">
            <a:solidFill>
              <a:srgbClr val="E8E2D2"/>
            </a:solidFill>
            <a:prstDash val="solid"/>
          </a:ln>
        </p:spPr>
      </p:sp>
      <p:pic>
        <p:nvPicPr>
          <p:cNvPr id="7" name="Image 1" descr="/tmp/claude-0/-home-claude/9e515346-3e64-5cb7-a745-b1bd6d57bc5e/scratchpad/ppt/04-ev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1042416"/>
            <a:ext cx="1463040" cy="28529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39112" y="3995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A20"/>
                </a:solidFill>
              </a:rPr>
              <a:t>Adding proof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767328" y="100584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E8E2D2"/>
          </a:solidFill>
          <a:ln w="12700">
            <a:solidFill>
              <a:srgbClr val="E8E2D2"/>
            </a:solidFill>
            <a:prstDash val="solid"/>
          </a:ln>
        </p:spPr>
      </p:sp>
      <p:pic>
        <p:nvPicPr>
          <p:cNvPr id="10" name="Image 2" descr="/tmp/claude-0/-home-claude/9e515346-3e64-5cb7-a745-b1bd6d57bc5e/scratchpad/ppt/11-employer-cla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04" y="1042416"/>
            <a:ext cx="1463040" cy="28529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12464" y="3995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A20"/>
                </a:solidFill>
              </a:rPr>
              <a:t>What the employer sees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440680" y="100584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E8E2D2"/>
          </a:solidFill>
          <a:ln w="12700">
            <a:solidFill>
              <a:srgbClr val="E8E2D2"/>
            </a:solidFill>
            <a:prstDash val="solid"/>
          </a:ln>
        </p:spPr>
      </p:sp>
      <p:pic>
        <p:nvPicPr>
          <p:cNvPr id="13" name="Image 3" descr="/tmp/claude-0/-home-claude/9e515346-3e64-5cb7-a745-b1bd6d57bc5e/scratchpad/ppt/14-resolv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56" y="1042416"/>
            <a:ext cx="1463040" cy="285292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85816" y="3995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A20"/>
                </a:solidFill>
              </a:rPr>
              <a:t>Worker got the money, claim closed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7114032" y="1005840"/>
            <a:ext cx="1536192" cy="2926080"/>
          </a:xfrm>
          <a:prstGeom prst="roundRect">
            <a:avLst>
              <a:gd name="adj" fmla="val 4762"/>
            </a:avLst>
          </a:prstGeom>
          <a:solidFill>
            <a:srgbClr val="E8E2D2"/>
          </a:solidFill>
          <a:ln w="12700">
            <a:solidFill>
              <a:srgbClr val="E8E2D2"/>
            </a:solidFill>
            <a:prstDash val="solid"/>
          </a:ln>
        </p:spPr>
      </p:sp>
      <p:pic>
        <p:nvPicPr>
          <p:cNvPr id="16" name="Image 4" descr="/tmp/claude-0/-home-claude/9e515346-3e64-5cb7-a745-b1bd6d57bc5e/scratchpad/ppt/19-urdu-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042416"/>
            <a:ext cx="1463040" cy="285292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059168" y="3995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A20"/>
                </a:solidFill>
              </a:rPr>
              <a:t>Same app in Urdu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IBM Bob helped us build HAQ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CD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0"/>
                </a:solidFill>
              </a:rPr>
              <a:t>Explain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54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A20"/>
                </a:solidFill>
              </a:rPr>
              <a:t>Bob explained how our code works, step by step, so we understood every part.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CD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0"/>
                </a:solidFill>
              </a:rPr>
              <a:t>Check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554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A20"/>
                </a:solidFill>
              </a:rPr>
              <a:t>Bob checked our code for safety problems, and we fixed what it found.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5146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CD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34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0"/>
                </a:solidFill>
              </a:rPr>
              <a:t>Test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A20"/>
                </a:solidFill>
              </a:rPr>
              <a:t>Bob wrote extra tests to make sure the app works the right way.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63440" y="25146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CD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2697480"/>
            <a:ext cx="548640" cy="548640"/>
          </a:xfrm>
          <a:prstGeom prst="ellipse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346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0"/>
                </a:solidFill>
              </a:rPr>
              <a:t>Plan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A20"/>
                </a:solidFill>
              </a:rPr>
              <a:t>Bob helped us plan what to build next.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A30"/>
                </a:solidFill>
              </a:rPr>
              <a:t>IBM Bob is an AI helper inside the code editor. </a:t>
            </a:r>
            <a:pPr indent="0" marL="0">
              <a:buNone/>
            </a:pPr>
            <a:r>
              <a:rPr lang="en-US" sz="1200" dirty="0">
                <a:solidFill>
                  <a:srgbClr val="1D2A20"/>
                </a:solidFill>
              </a:rPr>
              <a:t>We kept passwords and workers' private files hidden from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people can trust HAQ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9280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The worker decides what the employer sees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17720" y="1783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928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Nothing is sent until the worker says yes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614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Money is counted by the computer, not AI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617720" y="26517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76148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1208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AI cannot make up money or dates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3016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Proof can never be deleted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617720" y="3520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63016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1208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Pay counts only when the worker confirms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2"/>
                </a:solidFill>
              </a:rPr>
              <a:t>धन्यवाद  ·  ধন্যবাদ  ·  நன்றி  ·  ಧನ್ಯವಾದ  ·  شکریہ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A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HAQ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Q">
  <a:themeElements>
    <a:clrScheme name="HAQ">
      <a:dk1>
        <a:srgbClr val="1D2A20"/>
      </a:dk1>
      <a:lt1>
        <a:srgbClr val="FFFFFF"/>
      </a:lt1>
      <a:dk2>
        <a:srgbClr val="1F4A30"/>
      </a:dk2>
      <a:lt2>
        <a:srgbClr val="F7F1E3"/>
      </a:lt2>
      <a:accent1>
        <a:srgbClr val="2F6B45"/>
      </a:accent1>
      <a:accent2>
        <a:srgbClr val="E2A43B"/>
      </a:accent2>
      <a:accent3>
        <a:srgbClr val="8A5A00"/>
      </a:accent3>
      <a:accent4>
        <a:srgbClr val="234A73"/>
      </a:accent4>
      <a:accent5>
        <a:srgbClr val="A3312A"/>
      </a:accent5>
      <a:accent6>
        <a:srgbClr val="5D6A5F"/>
      </a:accent6>
      <a:hlink>
        <a:srgbClr val="2F6B45"/>
      </a:hlink>
      <a:folHlink>
        <a:srgbClr val="1F4A30"/>
      </a:folHlink>
    </a:clrScheme>
    <a:fontScheme name="HAQ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HAQ — fair wages for informal workers</dc:title>
  <dc:subject>PptxGenJS Presentation</dc:subject>
  <dc:creator>PptxGenJS</dc:creator>
  <cp:lastModifiedBy>PptxGenJS</cp:lastModifiedBy>
  <cp:revision>1</cp:revision>
  <dcterms:created xsi:type="dcterms:W3CDTF">2026-10-25T04:38:40Z</dcterms:created>
  <dcterms:modified xsi:type="dcterms:W3CDTF">2026-10-25T04:38:40Z</dcterms:modified>
</cp:coreProperties>
</file>